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  <a:latin typeface="Calibri"/>
              </a:rPr>
              <a:t>CSV Data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666666"/>
                </a:solidFill>
                <a:latin typeface="Calibri"/>
              </a:rPr>
              <a:t>Overview of three datasets from CSV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27432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0070C0"/>
                </a:solidFill>
                <a:latin typeface="Calibri"/>
              </a:rPr>
              <a:t>1. </a:t>
            </a:r>
            <a:r>
              <a:rPr sz="1800" b="1">
                <a:solidFill>
                  <a:srgbClr val="333333"/>
                </a:solidFill>
                <a:latin typeface="Calibri"/>
              </a:rPr>
              <a:t>Employee Information &amp; Payroll</a:t>
            </a:r>
          </a:p>
          <a:p>
            <a:pPr algn="l" lvl="1"/>
            <a:r>
              <a:rPr sz="1400">
                <a:solidFill>
                  <a:srgbClr val="666666"/>
                </a:solidFill>
                <a:latin typeface="Calibri"/>
              </a:rPr>
              <a:t>     Employee personal details, salary structure and deductions</a:t>
            </a:r>
          </a:p>
          <a:p>
            <a:pPr>
              <a:spcBef>
                <a:spcPts val="600"/>
              </a:spcBef>
            </a:pPr>
          </a:p>
          <a:p>
            <a:pPr algn="l"/>
            <a:r>
              <a:rPr sz="1800" b="1">
                <a:solidFill>
                  <a:srgbClr val="0070C0"/>
                </a:solidFill>
                <a:latin typeface="Calibri"/>
              </a:rPr>
              <a:t>2. </a:t>
            </a:r>
            <a:r>
              <a:rPr sz="1800" b="1">
                <a:solidFill>
                  <a:srgbClr val="333333"/>
                </a:solidFill>
                <a:latin typeface="Calibri"/>
              </a:rPr>
              <a:t>Product Inventory Management</a:t>
            </a:r>
          </a:p>
          <a:p>
            <a:pPr algn="l" lvl="1"/>
            <a:r>
              <a:rPr sz="1400">
                <a:solidFill>
                  <a:srgbClr val="666666"/>
                </a:solidFill>
                <a:latin typeface="Calibri"/>
              </a:rPr>
              <a:t>     Product catalog, pricing, stock levels and warehouse locations</a:t>
            </a:r>
          </a:p>
          <a:p>
            <a:pPr>
              <a:spcBef>
                <a:spcPts val="600"/>
              </a:spcBef>
            </a:pPr>
          </a:p>
          <a:p>
            <a:pPr algn="l"/>
            <a:r>
              <a:rPr sz="1800" b="1">
                <a:solidFill>
                  <a:srgbClr val="0070C0"/>
                </a:solidFill>
                <a:latin typeface="Calibri"/>
              </a:rPr>
              <a:t>3. </a:t>
            </a:r>
            <a:r>
              <a:rPr sz="1800" b="1">
                <a:solidFill>
                  <a:srgbClr val="333333"/>
                </a:solidFill>
                <a:latin typeface="Calibri"/>
              </a:rPr>
              <a:t>Order Records</a:t>
            </a:r>
          </a:p>
          <a:p>
            <a:pPr algn="l" lvl="1"/>
            <a:r>
              <a:rPr sz="1400">
                <a:solidFill>
                  <a:srgbClr val="666666"/>
                </a:solidFill>
                <a:latin typeface="Calibri"/>
              </a:rPr>
              <a:t>     Customer orders with payment, shipping and fulfillment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Calibri"/>
              </a:rPr>
              <a:t>Employee Information &amp;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Calibri"/>
              </a:rPr>
              <a:t>15 rows  x  11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Employee Information &amp;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1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EmployeeID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FirstName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HireDate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BaseSalary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PerformanceBonus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SocialInsurance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HousingFund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James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Wilson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Senior Engineer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2018-03-15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2100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19100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Emily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Johnson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Marketing Manager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2019-06-20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Robert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Williams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Finance Supervisor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2017-01-10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16500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Sarah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Brown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Frontend Developer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2020-09-01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14400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Michael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Davis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Recruiter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2021-04-12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9800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Employee Information &amp;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2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EmployeeID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FirstName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HireDate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BaseSalary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PerformanceBonus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SocialInsurance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HousingFund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Jessica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Garcia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Backend Developer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2019-11-25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15900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David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Miller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Operations Director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2016-08-08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23300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Ashley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Martinez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Brand Strategist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2022-02-14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11900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E009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Christopher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Anderson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QA Engineer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2020-07-30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Amanda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Taylor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Accountant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2018-12-05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10800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Employee Information &amp;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3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EmployeeID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FirstName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LastName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HireDate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BaseSalary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PerformanceBonus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SocialInsurance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HousingFund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NetSalary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Daniel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Thomas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Architect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2015-05-20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27700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Stephanie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Jackson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Training Supervisor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2019-03-18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12900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Andrew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White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Sales Representative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2021-08-22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12000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Nicole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Harris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Content Editor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2022-11-03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950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9250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E015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Matthew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Clark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DevOps Engineer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2017-09-14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1750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14500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Calibri"/>
              </a:rPr>
              <a:t>Product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Calibri"/>
              </a:rPr>
              <a:t>20 rows  x  12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Product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1 /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StockQuantity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SoldQuantity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ProfitMargin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WarehouseLocation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Mechanical Keyboard K1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Peripherals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Shenzhen Precision Electronics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580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2023-03-01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A-01-03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Wireless Mouse M200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Peripherals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Dongguan Optoelectronics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2022-08-15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A-01-05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27-inch Monitor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Monitors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Suzhou Vision Tech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890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2022-01-20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B-03-01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USB-C Hub Dongle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Guangzhou Connector Tech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890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2023-06-10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A-02-04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Noise-Cancelling Headphones N50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Huizhou Acoustics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2022-11-05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C-01-02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Product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2 /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StockQuantity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SoldQuantity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ProfitMargin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WarehouseLocation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Portable HDD 2TB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Shanghai Storage Star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670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2023-01-18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D-02-01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HD Webcam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Peripherals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Hangzhou VisionLink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2022-05-22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A-02-06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Bluetooth Speaker S30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Foshan SoundJoy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2023-04-08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C-02-03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P009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Ergonomic Chair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Ningbo ComfortSeat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620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880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2022-09-12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E-01-01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Laptop Stand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Yiwu ProHardware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2300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5600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2023-02-25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A-03-02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Product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3 /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StockQuantity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SoldQuantity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ProfitMargin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WarehouseLocation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4K HDMI Cable 2m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Cables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Dongguan Xinda Electronics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2021-12-01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F-01-01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Desk Lamp L100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Lighting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Zhongshan BrightView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2400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2023-07-15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G-01-03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Mini Projector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Projectors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Shenzhen ShadowTech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2023-09-20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Promo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B-02-01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Gamepad G1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Gaming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Guangzhou JoyPlay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650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2022-07-08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A-04-01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SSD 1TB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Shanghai Storage Star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549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2023-05-30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D-01-02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Product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4 /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StockQuantity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SoldQuantity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ProfitMargin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ListDate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WarehouseLocation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Laptop Sleeve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Yiwu ProHardware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2022-03-14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F-02-01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Wireless Charger Pad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Shenzhen Precision Electronics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2023-08-01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A-02-08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Monitor Arm Mount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Accessories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Ningbo ComfortSeat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2022-10-18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B-04-02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P019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Earbuds E20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Huizhou Acoustics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980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3100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2023-01-05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C-01-05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P020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Smart Plug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Smart Home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Hangzhou SmartLink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2022-06-20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G-02-01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0C0"/>
                </a:solidFill>
                <a:latin typeface="Calibri"/>
              </a:rPr>
              <a:t>Order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Calibri"/>
              </a:rPr>
              <a:t>12 rows  x  11 columns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Order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1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CustomerName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TotalAmount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PaymentMethod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ShippingAddress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John Smith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13812345678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Mechanical Keyboard K1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2024-01-05 09:23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WeChat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88 Zhongguancun Street Haidian Beijing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Alice Chen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13923456789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Wireless Mouse M200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2024-01-06 14:15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Alipay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88 Lujiazui Road Pudong Shanghai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Bob Wang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13734567890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27-inch Monitor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1899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2024-01-08 10:40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Credit Card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50 Tiyu West Road Tianhe Guangzhou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Carol Lee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13645678901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Noise-Cancelling Headphones N50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2097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2024-01-10 16:55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WeChat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 Keji Park Road Nanshan Shenzhen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David Liu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13556789012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Portable HDD 2TB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2024-01-12 08:30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Alipay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200 Wensan Road Xihu Hangzhou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Order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2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CustomerName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TotalAmount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PaymentMethod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ShippingAddress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Eva Zhang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13467890123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Bluetooth Speaker S30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2024-01-15 11:20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WeChat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99 Tianfu Avenue Wuhou Chengdu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ORD2024007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Frank Zhao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13378901234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Ergonomic Chair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1599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2024-01-18 15:05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Credit Card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100 Zhongshan Road Gulou Nanjing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Grace Wu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13289012345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USB-C Hub Dongle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1036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2024-01-20 09:50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Alipay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60 Optics Valley Road Hongshan Wuhan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/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ORD2024009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Henry Sun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13190123456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SSD 1TB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549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1098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2024-01-22 13:35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WeChat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30 Gaoxin Road Yanta Xian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ORD2004010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Ivy Feng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13001234567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Mini Projector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2024-01-25 17:10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Credit Card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 Jiefangbei Road Yuzhong Chongqing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Calibri"/>
              </a:rPr>
              <a:t>Order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Calibri"/>
              </a:rPr>
              <a:t>Page 3 /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777240"/>
          <a:ext cx="1124711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</a:tblGrid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OrderID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CustomerName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ProductName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UnitPrice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TotalAmount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OrderDate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PaymentMethod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ShippingAddress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OrderStatus</a:t>
                      </a:r>
                    </a:p>
                  </a:txBody>
                  <a:tcPr anchor="t">
                    <a:solidFill>
                      <a:srgbClr val="0070C0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ORD2004011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Jack Chen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13911112222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Gamepad G1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299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1495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2024-02-01 10:00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WeChat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66 Anshan West Road Nankai Tianjin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anchor="t"/>
                </a:tc>
              </a:tr>
              <a:tr h="17678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ORD2004012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Karen Zhu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13822223333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Smart Plug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690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2024-02-03 14:30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Alipay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28 Guanqian Street Gusu Suzhou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t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